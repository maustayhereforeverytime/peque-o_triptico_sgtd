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8" r:id="rId2"/>
    <p:sldId id="269" r:id="rId3"/>
    <p:sldId id="270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47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687" autoAdjust="0"/>
  </p:normalViewPr>
  <p:slideViewPr>
    <p:cSldViewPr snapToGrid="0" snapToObjects="1">
      <p:cViewPr>
        <p:scale>
          <a:sx n="66" d="100"/>
          <a:sy n="66" d="100"/>
        </p:scale>
        <p:origin x="792" y="-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C3BDF2-A76B-4BCF-B00C-0C41C183B70D}" type="datetimeFigureOut">
              <a:rPr lang="es-PE" smtClean="0"/>
              <a:t>11/09/2026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6E8C3-FF02-4CDF-9536-EBD15B0370A9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85302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6E8C3-FF02-4CDF-9536-EBD15B0370A9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6259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EA2A210-B80B-E3AB-140A-4422E34ED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941" l="3711" r="89974">
                        <a14:foregroundMark x1="3711" y1="26660" x2="41536" y2="26660"/>
                        <a14:backgroundMark x1="5013" y1="35547" x2="48893" y2="34961"/>
                        <a14:backgroundMark x1="2279" y1="44434" x2="30078" y2="39551"/>
                        <a14:backgroundMark x1="79362" y1="11816" x2="80469" y2="23926"/>
                        <a14:backgroundMark x1="81576" y1="13086" x2="81771" y2="21387"/>
                      </a14:backgroundRemoval>
                    </a14:imgEffect>
                  </a14:imgLayer>
                </a14:imgProps>
              </a:ext>
            </a:extLst>
          </a:blip>
          <a:srcRect t="20316" r="55503" b="68890"/>
          <a:stretch>
            <a:fillRect/>
          </a:stretch>
        </p:blipFill>
        <p:spPr>
          <a:xfrm>
            <a:off x="1383241" y="409381"/>
            <a:ext cx="7528529" cy="1217456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BCCE6D49-F38E-1806-71D4-28EEC193F7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99219" l="326" r="89974">
                        <a14:foregroundMark x1="326" y1="92871" x2="56380" y2="97363"/>
                        <a14:foregroundMark x1="2148" y1="88672" x2="14323" y2="89355"/>
                        <a14:foregroundMark x1="56185" y1="96484" x2="66667" y2="99219"/>
                        <a14:backgroundMark x1="3711" y1="83008" x2="3711" y2="83008"/>
                        <a14:backgroundMark x1="3841" y1="83008" x2="65104" y2="83203"/>
                        <a14:backgroundMark x1="57227" y1="93750" x2="59570" y2="93945"/>
                      </a14:backgroundRemoval>
                    </a14:imgEffect>
                  </a14:imgLayer>
                </a14:imgProps>
              </a:ext>
            </a:extLst>
          </a:blip>
          <a:srcRect t="82540" r="30247"/>
          <a:stretch>
            <a:fillRect/>
          </a:stretch>
        </p:blipFill>
        <p:spPr>
          <a:xfrm>
            <a:off x="4460" y="5660570"/>
            <a:ext cx="7175500" cy="1197429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E3AF5B64-6AE5-D635-C871-9C1BBBB952D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 t="42957" b="36297"/>
          <a:stretch>
            <a:fillRect/>
          </a:stretch>
        </p:blipFill>
        <p:spPr>
          <a:xfrm>
            <a:off x="2428971" y="3938196"/>
            <a:ext cx="7089784" cy="1470803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A1A0019D-8D16-BE36-EC59-1FB6F8A672C6}"/>
              </a:ext>
            </a:extLst>
          </p:cNvPr>
          <p:cNvSpPr/>
          <p:nvPr/>
        </p:nvSpPr>
        <p:spPr>
          <a:xfrm>
            <a:off x="3047641" y="1973900"/>
            <a:ext cx="5438782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0" cap="none" spc="0" dirty="0">
                <a:ln w="0"/>
                <a:solidFill>
                  <a:srgbClr val="0347A9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SISTEMA</a:t>
            </a:r>
            <a:endParaRPr lang="es-ES" sz="6600" b="0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578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5000">
        <p:split orient="vert"/>
      </p:transition>
    </mc:Choice>
    <mc:Fallback>
      <p:transition spd="slow" advClick="0" advTm="5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26A8C-D7DF-E41A-0912-49FCEC8B4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AB1E80A2-F5F3-15D4-9081-256443CE6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001"/>
            <a:ext cx="12187540" cy="812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7419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Click="0" advTm="5000">
        <p14:reveal/>
      </p:transition>
    </mc:Choice>
    <mc:Fallback>
      <p:transition spd="slow" advClick="0" advTm="5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72AD6-B07F-3B41-F334-F59DACE47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44D9503E-C848-1B03-FAAE-9378A30DC8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7" t="68360" r="34762" b="16701"/>
          <a:stretch>
            <a:fillRect/>
          </a:stretch>
        </p:blipFill>
        <p:spPr>
          <a:xfrm>
            <a:off x="1747644" y="4452163"/>
            <a:ext cx="8956373" cy="143691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85CB999-543D-E83A-0668-3981F74A5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99219" l="326" r="89974">
                        <a14:foregroundMark x1="326" y1="92871" x2="56380" y2="97363"/>
                        <a14:foregroundMark x1="2148" y1="88672" x2="14323" y2="89355"/>
                        <a14:foregroundMark x1="56185" y1="96484" x2="66667" y2="99219"/>
                        <a14:backgroundMark x1="3711" y1="83008" x2="3711" y2="83008"/>
                        <a14:backgroundMark x1="3841" y1="83008" x2="65104" y2="83203"/>
                        <a14:backgroundMark x1="57227" y1="93750" x2="59570" y2="93945"/>
                      </a14:backgroundRemoval>
                    </a14:imgEffect>
                  </a14:imgLayer>
                </a14:imgProps>
              </a:ext>
            </a:extLst>
          </a:blip>
          <a:srcRect t="82540" r="30247"/>
          <a:stretch>
            <a:fillRect/>
          </a:stretch>
        </p:blipFill>
        <p:spPr>
          <a:xfrm>
            <a:off x="4460" y="5660570"/>
            <a:ext cx="7175500" cy="119742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E71FA0C-DEF4-6657-07CA-237C4E22A1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3688" b="54304" l="1914" r="52691">
                        <a14:foregroundMark x1="3589" y1="42508" x2="51136" y2="39320"/>
                        <a14:foregroundMark x1="4904" y1="35813" x2="6220" y2="54198"/>
                        <a14:foregroundMark x1="6220" y1="36663" x2="20395" y2="34963"/>
                        <a14:backgroundMark x1="49821" y1="52497" x2="49940" y2="49734"/>
                        <a14:backgroundMark x1="51376" y1="50584" x2="51376" y2="50584"/>
                      </a14:backgroundRemoval>
                    </a14:imgEffect>
                  </a14:imgLayer>
                </a14:imgProps>
              </a:ext>
            </a:extLst>
          </a:blip>
          <a:srcRect l="1999" t="31112" r="45115" b="42856"/>
          <a:stretch>
            <a:fillRect/>
          </a:stretch>
        </p:blipFill>
        <p:spPr>
          <a:xfrm>
            <a:off x="2681441" y="2233006"/>
            <a:ext cx="7088777" cy="19637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6C6AA62-3D02-4CF4-AA6D-F5BC004B98A4}"/>
              </a:ext>
            </a:extLst>
          </p:cNvPr>
          <p:cNvSpPr/>
          <p:nvPr/>
        </p:nvSpPr>
        <p:spPr>
          <a:xfrm rot="21425683">
            <a:off x="3047643" y="1416094"/>
            <a:ext cx="5438782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b="0" cap="none" spc="0" dirty="0">
                <a:ln w="0"/>
                <a:solidFill>
                  <a:srgbClr val="0347A9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SISTEMA</a:t>
            </a:r>
            <a:r>
              <a:rPr lang="es-ES" sz="1400" b="0" cap="none" spc="0" dirty="0">
                <a:ln w="0"/>
                <a:solidFill>
                  <a:srgbClr val="0347A9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 </a:t>
            </a:r>
            <a:r>
              <a:rPr lang="es-ES" sz="32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DE</a:t>
            </a:r>
            <a:endParaRPr lang="es-ES" sz="6600" b="0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06AA197-8934-1CE1-FAFE-A3511B66B90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5836" t="24338" r="12185" b="22406"/>
          <a:stretch>
            <a:fillRect/>
          </a:stretch>
        </p:blipFill>
        <p:spPr>
          <a:xfrm>
            <a:off x="9310645" y="2885626"/>
            <a:ext cx="1915886" cy="17956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EA809700-310E-AA37-7F6F-07DBBE693D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1341" y="0"/>
            <a:ext cx="1707513" cy="258101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8D58A85-7CFC-FD84-E00C-4353E4F347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601" y="2723802"/>
            <a:ext cx="1992086" cy="199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29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C1E2AC3-CD5B-DC93-AF76-8E96701386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68" b="10457"/>
          <a:stretch>
            <a:fillRect/>
          </a:stretch>
        </p:blipFill>
        <p:spPr>
          <a:xfrm>
            <a:off x="0" y="0"/>
            <a:ext cx="12192000" cy="616857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34CEC30-13CD-0185-4A58-9E50430522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1" b="99219" l="326" r="89974">
                        <a14:foregroundMark x1="326" y1="92871" x2="56380" y2="97363"/>
                        <a14:foregroundMark x1="2148" y1="88672" x2="14323" y2="89355"/>
                        <a14:foregroundMark x1="56185" y1="96484" x2="66667" y2="99219"/>
                        <a14:backgroundMark x1="3711" y1="83008" x2="3711" y2="83008"/>
                        <a14:backgroundMark x1="3841" y1="83008" x2="65104" y2="83203"/>
                        <a14:backgroundMark x1="57227" y1="93750" x2="59570" y2="93945"/>
                      </a14:backgroundRemoval>
                    </a14:imgEffect>
                  </a14:imgLayer>
                </a14:imgProps>
              </a:ext>
            </a:extLst>
          </a:blip>
          <a:srcRect t="82540" r="30247"/>
          <a:stretch>
            <a:fillRect/>
          </a:stretch>
        </p:blipFill>
        <p:spPr>
          <a:xfrm>
            <a:off x="4460" y="5660570"/>
            <a:ext cx="7175500" cy="11974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375C"/>
                </a:solidFill>
                <a:latin typeface="Aptos Display"/>
              </a:defRPr>
            </a:pPr>
            <a:r>
              <a:t>¿Por qué implementamos este sistema?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Un paso hacia la modernización de la gestión municipal</a:t>
            </a:r>
          </a:p>
        </p:txBody>
      </p:sp>
      <p:pic>
        <p:nvPicPr>
          <p:cNvPr id="5" name="Picture 4" descr="maynas_visual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411480"/>
            <a:ext cx="4160520" cy="580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645920"/>
            <a:ext cx="6217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Modernizar la gestión documental.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Optimizar la derivación de documentos.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Facilitar el seguimiento de expedientes.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Mejorar el control de los trámites.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Reducir tiempos en los procesos internos.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Fortalecer la trazabilidad de la documentación.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C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2881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Municipalidad Provincial de Maynas • OSTI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375C"/>
                </a:solidFill>
                <a:latin typeface="Aptos Display"/>
              </a:defRPr>
            </a:pPr>
            <a:r>
              <a:t>Del documento al trámite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De procesos manuales a una gestión más organizada y trazable</a:t>
            </a:r>
          </a:p>
        </p:txBody>
      </p:sp>
      <p:pic>
        <p:nvPicPr>
          <p:cNvPr id="5" name="Picture 4" descr="maynas_visual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5212080" cy="44805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72200" y="1508760"/>
            <a:ext cx="2423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C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73368" y="17373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C375C"/>
                </a:solidFill>
              </a:defRPr>
            </a:pPr>
            <a:r>
              <a:t>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3317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• Mayor dependencia del documento físico</a:t>
            </a:r>
          </a:p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• Procesos manuales</a:t>
            </a:r>
          </a:p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• Dificultad para realizar seguimiento</a:t>
            </a:r>
          </a:p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• Acumulación de documentación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508760"/>
            <a:ext cx="2423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2B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62288" y="17373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B9168"/>
                </a:solidFill>
              </a:defRPr>
            </a:pPr>
            <a:r>
              <a:t>AHORA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3317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• Gestión digital</a:t>
            </a:r>
          </a:p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• Derivación organizada</a:t>
            </a:r>
          </a:p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• Seguimiento del trámite</a:t>
            </a:r>
          </a:p>
          <a:p>
            <a:pPr>
              <a:spcAft>
                <a:spcPts val="1000"/>
              </a:spcAft>
              <a:defRPr sz="1400">
                <a:solidFill>
                  <a:srgbClr val="232D37"/>
                </a:solidFill>
                <a:latin typeface="Aptos"/>
              </a:defRPr>
            </a:pPr>
            <a:r>
              <a:t>• Información disponible para la gestión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C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2881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Municipalidad Provincial de Maynas • OSTI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375C"/>
                </a:solidFill>
                <a:latin typeface="Aptos Display"/>
              </a:defRPr>
            </a:pPr>
            <a:r>
              <a:t>¿Qué es el sistema?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Una plataforma para la gestión documental</a:t>
            </a:r>
          </a:p>
        </p:txBody>
      </p:sp>
      <p:pic>
        <p:nvPicPr>
          <p:cNvPr id="5" name="Picture 4" descr="maynas_visual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17320"/>
            <a:ext cx="475488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600200"/>
            <a:ext cx="5394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32D37"/>
                </a:solidFill>
              </a:defRPr>
            </a:pPr>
            <a:r>
              <a:rPr dirty="0"/>
              <a:t>El Sistema de </a:t>
            </a:r>
            <a:r>
              <a:rPr dirty="0" err="1"/>
              <a:t>Gestión</a:t>
            </a:r>
            <a:r>
              <a:rPr dirty="0"/>
              <a:t> de </a:t>
            </a:r>
            <a:r>
              <a:rPr dirty="0" err="1"/>
              <a:t>Trámite</a:t>
            </a:r>
            <a:r>
              <a:rPr dirty="0"/>
              <a:t> </a:t>
            </a:r>
            <a:r>
              <a:rPr dirty="0" err="1"/>
              <a:t>Documentario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herramienta</a:t>
            </a:r>
            <a:r>
              <a:rPr dirty="0"/>
              <a:t> </a:t>
            </a:r>
            <a:r>
              <a:rPr dirty="0" err="1"/>
              <a:t>tecnológica</a:t>
            </a:r>
            <a:r>
              <a:rPr dirty="0"/>
              <a:t> </a:t>
            </a:r>
            <a:r>
              <a:rPr dirty="0" err="1"/>
              <a:t>destinada</a:t>
            </a:r>
            <a:r>
              <a:rPr dirty="0"/>
              <a:t> a </a:t>
            </a:r>
            <a:r>
              <a:rPr dirty="0" err="1"/>
              <a:t>apoyar</a:t>
            </a:r>
            <a:r>
              <a:rPr dirty="0"/>
              <a:t> la </a:t>
            </a:r>
            <a:r>
              <a:rPr dirty="0" err="1"/>
              <a:t>administración</a:t>
            </a:r>
            <a:r>
              <a:rPr dirty="0"/>
              <a:t> de </a:t>
            </a:r>
            <a:r>
              <a:rPr dirty="0" err="1"/>
              <a:t>documentos</a:t>
            </a:r>
            <a:r>
              <a:rPr dirty="0"/>
              <a:t> y </a:t>
            </a:r>
            <a:r>
              <a:rPr dirty="0" err="1"/>
              <a:t>expedientes</a:t>
            </a:r>
            <a:r>
              <a:rPr dirty="0"/>
              <a:t> de la Municipalidad Provincial de </a:t>
            </a:r>
            <a:r>
              <a:rPr dirty="0" err="1"/>
              <a:t>Maynas</a:t>
            </a:r>
            <a:r>
              <a:rPr dirty="0"/>
              <a:t>.</a:t>
            </a:r>
          </a:p>
          <a:p>
            <a:pPr>
              <a:spcBef>
                <a:spcPts val="1800"/>
              </a:spcBef>
              <a:defRPr sz="1600" b="1">
                <a:solidFill>
                  <a:srgbClr val="1C70AD"/>
                </a:solidFill>
              </a:defRPr>
            </a:pPr>
            <a:r>
              <a:rPr dirty="0" err="1"/>
              <a:t>Recepción</a:t>
            </a:r>
            <a:r>
              <a:rPr dirty="0"/>
              <a:t>  →  </a:t>
            </a:r>
            <a:r>
              <a:rPr dirty="0" err="1"/>
              <a:t>Registro</a:t>
            </a:r>
            <a:r>
              <a:rPr dirty="0"/>
              <a:t>  →  </a:t>
            </a:r>
            <a:r>
              <a:rPr dirty="0" err="1"/>
              <a:t>Derivación</a:t>
            </a:r>
            <a:r>
              <a:rPr dirty="0"/>
              <a:t>  →  </a:t>
            </a:r>
            <a:r>
              <a:rPr dirty="0" err="1"/>
              <a:t>Atención</a:t>
            </a:r>
            <a:r>
              <a:rPr dirty="0"/>
              <a:t>  →  </a:t>
            </a:r>
            <a:r>
              <a:rPr dirty="0" err="1"/>
              <a:t>Seguimiento</a:t>
            </a:r>
            <a:r>
              <a:rPr dirty="0"/>
              <a:t>  →  </a:t>
            </a:r>
            <a:r>
              <a:rPr dirty="0" err="1"/>
              <a:t>Conclusión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C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2881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Municipalidad Provincial de Maynas • OSTI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375C"/>
                </a:solidFill>
                <a:latin typeface="Aptos Display"/>
              </a:defRPr>
            </a:pPr>
            <a:r>
              <a:t>¿Cómo funciona?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Flujo general del trámite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057400"/>
            <a:ext cx="914400" cy="914400"/>
          </a:xfrm>
          <a:prstGeom prst="ellipse">
            <a:avLst/>
          </a:prstGeom>
          <a:solidFill>
            <a:srgbClr val="1C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3154680"/>
            <a:ext cx="12435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32D37"/>
                </a:solidFill>
              </a:defRPr>
            </a:pPr>
            <a:r>
              <a:t>Ingreso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17320" y="2350008"/>
            <a:ext cx="502920" cy="320040"/>
          </a:xfrm>
          <a:prstGeom prst="rightArrow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947672" y="2057400"/>
            <a:ext cx="914400" cy="914400"/>
          </a:xfrm>
          <a:prstGeom prst="ellipse">
            <a:avLst/>
          </a:prstGeom>
          <a:solidFill>
            <a:srgbClr val="2B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83080" y="3154680"/>
            <a:ext cx="12435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32D37"/>
                </a:solidFill>
              </a:defRPr>
            </a:pPr>
            <a:r>
              <a:t>Registro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62072" y="2350008"/>
            <a:ext cx="502920" cy="320040"/>
          </a:xfrm>
          <a:prstGeom prst="rightArrow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92424" y="2057400"/>
            <a:ext cx="914400" cy="914400"/>
          </a:xfrm>
          <a:prstGeom prst="ellipse">
            <a:avLst/>
          </a:prstGeom>
          <a:solidFill>
            <a:srgbClr val="DA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27832" y="3154680"/>
            <a:ext cx="12435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32D37"/>
                </a:solidFill>
              </a:defRPr>
            </a:pPr>
            <a:r>
              <a:t>Generación</a:t>
            </a:r>
            <a:br/>
            <a:r>
              <a:t>del trámite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306824" y="2350008"/>
            <a:ext cx="502920" cy="320040"/>
          </a:xfrm>
          <a:prstGeom prst="rightArrow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37176" y="2057400"/>
            <a:ext cx="914400" cy="914400"/>
          </a:xfrm>
          <a:prstGeom prst="ellipse">
            <a:avLst/>
          </a:prstGeom>
          <a:solidFill>
            <a:srgbClr val="0C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72584" y="3154680"/>
            <a:ext cx="12435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32D37"/>
                </a:solidFill>
              </a:defRPr>
            </a:pPr>
            <a:r>
              <a:t>Derivación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51576" y="2350008"/>
            <a:ext cx="502920" cy="320040"/>
          </a:xfrm>
          <a:prstGeom prst="rightArrow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281928" y="2057400"/>
            <a:ext cx="914400" cy="914400"/>
          </a:xfrm>
          <a:prstGeom prst="ellipse">
            <a:avLst/>
          </a:prstGeom>
          <a:solidFill>
            <a:srgbClr val="1C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17336" y="3154680"/>
            <a:ext cx="12435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32D37"/>
                </a:solidFill>
              </a:defRPr>
            </a:pPr>
            <a:r>
              <a:t>Recepción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96328" y="2350008"/>
            <a:ext cx="502920" cy="320040"/>
          </a:xfrm>
          <a:prstGeom prst="rightArrow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726680" y="2057400"/>
            <a:ext cx="914400" cy="914400"/>
          </a:xfrm>
          <a:prstGeom prst="ellipse">
            <a:avLst/>
          </a:prstGeom>
          <a:solidFill>
            <a:srgbClr val="2B9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62088" y="3154680"/>
            <a:ext cx="12435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32D37"/>
                </a:solidFill>
              </a:defRPr>
            </a:pPr>
            <a:r>
              <a:t>Atención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641080" y="2350008"/>
            <a:ext cx="502920" cy="320040"/>
          </a:xfrm>
          <a:prstGeom prst="rightArrow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71432" y="2057400"/>
            <a:ext cx="914400" cy="914400"/>
          </a:xfrm>
          <a:prstGeom prst="ellipse">
            <a:avLst/>
          </a:prstGeom>
          <a:solidFill>
            <a:srgbClr val="DA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06840" y="3154680"/>
            <a:ext cx="12435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32D37"/>
                </a:solidFill>
              </a:defRPr>
            </a:pPr>
            <a:r>
              <a:t>Seguimiento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085832" y="2350008"/>
            <a:ext cx="502920" cy="320040"/>
          </a:xfrm>
          <a:prstGeom prst="rightArrow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616184" y="2057400"/>
            <a:ext cx="914400" cy="914400"/>
          </a:xfrm>
          <a:prstGeom prst="ellipse">
            <a:avLst/>
          </a:prstGeom>
          <a:solidFill>
            <a:srgbClr val="0C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51592" y="3154680"/>
            <a:ext cx="12435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32D37"/>
                </a:solidFill>
              </a:defRPr>
            </a:pPr>
            <a:r>
              <a:t>Conclusión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572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C375C"/>
                </a:solidFill>
              </a:defRPr>
            </a:pPr>
            <a:r>
              <a:t>Cada etapa permite mantener un mejor control del trámite y su recorrido dentro de la institución.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C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2881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Municipalidad Provincial de Maynas • OSTI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375C"/>
                </a:solidFill>
                <a:latin typeface="Aptos Display"/>
              </a:defRPr>
            </a:pPr>
            <a:r>
              <a:t>Principales funcionalidades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Herramientas para ordenar y agilizar el trabajo</a:t>
            </a:r>
          </a:p>
        </p:txBody>
      </p:sp>
      <p:pic>
        <p:nvPicPr>
          <p:cNvPr id="5" name="Picture 4" descr="maynas_visual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325880"/>
            <a:ext cx="448056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1732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Registro de documentos.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Generación y gestión de trámites.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Derivación entre áreas.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Recepción y atención.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Consulta del estado del trámite.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Historial de movimientos.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Seguimiento documental.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Administración de usuarios y permisos.</a:t>
            </a:r>
          </a:p>
          <a:p>
            <a:pPr>
              <a:spcAft>
                <a:spcPts val="1000"/>
              </a:spcAft>
              <a:defRPr sz="1600">
                <a:solidFill>
                  <a:srgbClr val="232D37"/>
                </a:solidFill>
                <a:latin typeface="Aptos"/>
              </a:defRPr>
            </a:pPr>
            <a:r>
              <a:t>• Reportes e información para la gestión.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C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2881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Municipalidad Provincial de Maynas • OSTI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375C"/>
                </a:solidFill>
                <a:latin typeface="Aptos Display"/>
              </a:defRPr>
            </a:pPr>
            <a:r>
              <a:t>Beneficios para la Municipalidad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Una gestión más eficiente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1C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874519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C70AD"/>
                </a:solidFill>
              </a:defRPr>
            </a:pPr>
            <a:r>
              <a:t>AGILIDAD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32D37"/>
                </a:solidFill>
              </a:defRPr>
            </a:pPr>
            <a:r>
              <a:t>Optimización de tiempos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2B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874519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B9168"/>
                </a:solidFill>
              </a:defRPr>
            </a:pPr>
            <a:r>
              <a:t>TRAZABILIDAD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2316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32D37"/>
                </a:solidFill>
              </a:defRPr>
            </a:pPr>
            <a:r>
              <a:t>Seguimiento del documento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60020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A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1874519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AA537"/>
                </a:solidFill>
              </a:defRPr>
            </a:pPr>
            <a:r>
              <a:t>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42316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32D37"/>
                </a:solidFill>
              </a:defRPr>
            </a:pPr>
            <a:r>
              <a:t>Información organizada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0C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411480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C375C"/>
                </a:solidFill>
              </a:defRPr>
            </a:pPr>
            <a:r>
              <a:t>SEGURIDAD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6344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32D37"/>
                </a:solidFill>
              </a:defRPr>
            </a:pPr>
            <a:r>
              <a:t>Usuarios y permisos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84048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1C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4114800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C70AD"/>
                </a:solidFill>
              </a:defRPr>
            </a:pPr>
            <a:r>
              <a:t>ORDEN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66344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232D37"/>
                </a:solidFill>
              </a:defRPr>
            </a:pPr>
            <a:r>
              <a:t>Gestión documental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C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2881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Municipalidad Provincial de Maynas • OSTI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375C"/>
                </a:solidFill>
                <a:latin typeface="Aptos Display"/>
              </a:defRPr>
            </a:pPr>
            <a:r>
              <a:t>Beneficios para el ciudadano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El ciudadano en el centro</a:t>
            </a:r>
          </a:p>
        </p:txBody>
      </p:sp>
      <p:pic>
        <p:nvPicPr>
          <p:cNvPr id="5" name="Picture 4" descr="maynas_visual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480060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6440" y="1645920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Procesos mejor organizados.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Mayor eficiencia en la gestión.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Información documental más accesible para las áreas autorizadas.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Mejor capacidad de seguimiento.</a:t>
            </a:r>
          </a:p>
          <a:p>
            <a:pPr>
              <a:spcAft>
                <a:spcPts val="1000"/>
              </a:spcAft>
              <a:defRPr sz="1800">
                <a:solidFill>
                  <a:srgbClr val="232D37"/>
                </a:solidFill>
                <a:latin typeface="Aptos"/>
              </a:defRPr>
            </a:pPr>
            <a:r>
              <a:t>• Mayor transparencia y confianza institucional.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516636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B9168"/>
                </a:solidFill>
              </a:defRPr>
            </a:pPr>
            <a:r>
              <a:t>“Un municipio moderno utiliza la tecnología para servir mejor.”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C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2881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Municipalidad Provincial de Maynas • OSTI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375C"/>
                </a:solidFill>
                <a:latin typeface="Aptos Display"/>
              </a:defRPr>
            </a:pPr>
            <a:r>
              <a:t>Seguridad y trazabilidad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La información también se protege</a:t>
            </a:r>
          </a:p>
        </p:txBody>
      </p:sp>
      <p:pic>
        <p:nvPicPr>
          <p:cNvPr id="5" name="Picture 4" descr="maynas_visual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325880"/>
            <a:ext cx="457200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60020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Control de acceso de usuarios.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Perfiles y permisos.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Registro de operaciones.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Trazabilidad de documentos.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Respaldo de información.</a:t>
            </a:r>
          </a:p>
          <a:p>
            <a:pPr>
              <a:spcAft>
                <a:spcPts val="10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Buenas prácticas de seguridad informática.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C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2881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Municipalidad Provincial de Maynas • OSTI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C375C"/>
                </a:solidFill>
                <a:latin typeface="Aptos Display"/>
              </a:defRPr>
            </a:pPr>
            <a:r>
              <a:t>Implementación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37D"/>
                </a:solidFill>
                <a:latin typeface="Aptos"/>
              </a:defRPr>
            </a:pPr>
            <a:r>
              <a:t>De la idea a la realidad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600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C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2103120"/>
            <a:ext cx="1371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32D37"/>
                </a:solidFill>
              </a:defRPr>
            </a:pPr>
            <a:r>
              <a:t>01</a:t>
            </a:r>
            <a:br/>
            <a:r>
              <a:t>Levantamiento</a:t>
            </a:r>
            <a:br/>
            <a:r>
              <a:t>de información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03120" y="2514600"/>
            <a:ext cx="320040" cy="274320"/>
          </a:xfrm>
          <a:prstGeom prst="rightArrow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23160" y="1828800"/>
            <a:ext cx="1600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B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32888" y="2103120"/>
            <a:ext cx="1371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32D37"/>
                </a:solidFill>
              </a:defRPr>
            </a:pPr>
            <a:r>
              <a:t>02</a:t>
            </a:r>
            <a:br/>
            <a:r>
              <a:t>Configuración /</a:t>
            </a:r>
            <a:br/>
            <a:r>
              <a:t>Desarrollo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23360" y="2514600"/>
            <a:ext cx="320040" cy="274320"/>
          </a:xfrm>
          <a:prstGeom prst="rightArrow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1600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53128" y="2103120"/>
            <a:ext cx="1371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32D37"/>
                </a:solidFill>
              </a:defRPr>
            </a:pPr>
            <a:r>
              <a:t>03</a:t>
            </a:r>
            <a:br/>
            <a:r>
              <a:t>Pruebas y</a:t>
            </a:r>
            <a:br/>
            <a:r>
              <a:t>validación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43600" y="2514600"/>
            <a:ext cx="320040" cy="274320"/>
          </a:xfrm>
          <a:prstGeom prst="rightArrow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1600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0C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2103120"/>
            <a:ext cx="1371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32D37"/>
                </a:solidFill>
              </a:defRPr>
            </a:pPr>
            <a:r>
              <a:t>04</a:t>
            </a:r>
            <a:br/>
            <a:r>
              <a:t>Capacitación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63840" y="2514600"/>
            <a:ext cx="320040" cy="274320"/>
          </a:xfrm>
          <a:prstGeom prst="rightArrow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83880" y="1828800"/>
            <a:ext cx="1600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C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103120"/>
            <a:ext cx="1371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32D37"/>
                </a:solidFill>
              </a:defRPr>
            </a:pPr>
            <a:r>
              <a:t>05</a:t>
            </a:r>
            <a:br/>
            <a:r>
              <a:t>Puesta en</a:t>
            </a:r>
            <a:br/>
            <a:r>
              <a:t>producción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784080" y="2514600"/>
            <a:ext cx="320040" cy="274320"/>
          </a:xfrm>
          <a:prstGeom prst="rightArrow">
            <a:avLst/>
          </a:prstGeom>
          <a:solidFill>
            <a:srgbClr val="69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104120" y="1828800"/>
            <a:ext cx="1600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B91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13848" y="2103120"/>
            <a:ext cx="1371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32D37"/>
                </a:solidFill>
              </a:defRPr>
            </a:pPr>
            <a:r>
              <a:t>06</a:t>
            </a:r>
            <a:br/>
            <a:r>
              <a:t>Soporte y mejora</a:t>
            </a:r>
            <a:br/>
            <a:r>
              <a:t>continua</a:t>
            </a:r>
          </a:p>
        </p:txBody>
      </p:sp>
      <p:pic>
        <p:nvPicPr>
          <p:cNvPr id="22" name="Picture 21" descr="maynas_visual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4114800"/>
            <a:ext cx="7635240" cy="169164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C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2881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Municipalidad Provincial de Maynas • OSTI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Demostración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Caso ficticio: registro y seguimiento de un trámite</a:t>
            </a:r>
          </a:p>
        </p:txBody>
      </p:sp>
      <p:pic>
        <p:nvPicPr>
          <p:cNvPr id="5" name="Picture 4" descr="maynas_visual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566928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60020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Registrar documento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Generar trámite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Derivar al área responsable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Recibir y atender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Consultar historial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Realizar seguimiento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• Concluir el trámite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1C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528816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Municipalidad Provincial de Maynas • OSTI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ynas_visual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MAYNAS AVANZA</a:t>
            </a:r>
          </a:p>
          <a:p>
            <a:pPr algn="ctr">
              <a:spcBef>
                <a:spcPts val="2000"/>
              </a:spcBef>
              <a:defRPr sz="2700" b="1">
                <a:solidFill>
                  <a:srgbClr val="FFFFFF"/>
                </a:solidFill>
              </a:defRPr>
            </a:pPr>
            <a:r>
              <a:t>Nuevo Sistema de Gestión de Trámite Documentario</a:t>
            </a:r>
          </a:p>
          <a:p>
            <a:pPr algn="ctr">
              <a:spcBef>
                <a:spcPts val="2500"/>
              </a:spcBef>
              <a:defRPr sz="1800">
                <a:solidFill>
                  <a:srgbClr val="FFFFFF"/>
                </a:solidFill>
              </a:defRPr>
            </a:pPr>
            <a:r>
              <a:t>Más eficiencia  •  Más organización  •  Más transparencia  •  Más tecnología</a:t>
            </a:r>
          </a:p>
          <a:p>
            <a:pPr algn="ctr">
              <a:spcBef>
                <a:spcPts val="3500"/>
              </a:spcBef>
              <a:defRPr sz="1700" b="1">
                <a:solidFill>
                  <a:srgbClr val="FFFFFF"/>
                </a:solidFill>
              </a:defRPr>
            </a:pPr>
            <a:r>
              <a:t>Paola Estefanía Bances Chávez</a:t>
            </a:r>
            <a:br/>
            <a:r>
              <a:t>Alcaldesa</a:t>
            </a:r>
          </a:p>
          <a:p>
            <a:pPr algn="ctr">
              <a:spcBef>
                <a:spcPts val="2500"/>
              </a:spcBef>
              <a:defRPr sz="1400">
                <a:solidFill>
                  <a:srgbClr val="FFFFFF"/>
                </a:solidFill>
              </a:defRPr>
            </a:pPr>
            <a:r>
              <a:t>Oficina de Sistemas y Tecnologías de la Información – OSTI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570</Words>
  <Application>Microsoft Office PowerPoint</Application>
  <PresentationFormat>Panorámica</PresentationFormat>
  <Paragraphs>119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IRISITA</dc:creator>
  <cp:keywords/>
  <dc:description>generated using python-pptx</dc:description>
  <cp:lastModifiedBy>IRISITA</cp:lastModifiedBy>
  <cp:revision>3</cp:revision>
  <dcterms:created xsi:type="dcterms:W3CDTF">2013-01-27T09:14:16Z</dcterms:created>
  <dcterms:modified xsi:type="dcterms:W3CDTF">2026-09-11T20:09:53Z</dcterms:modified>
  <cp:category/>
</cp:coreProperties>
</file>